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5" r:id="rId9"/>
    <p:sldId id="261" r:id="rId10"/>
    <p:sldId id="262" r:id="rId11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18"/>
    <p:restoredTop sz="94658"/>
  </p:normalViewPr>
  <p:slideViewPr>
    <p:cSldViewPr snapToGrid="0">
      <p:cViewPr>
        <p:scale>
          <a:sx n="116" d="100"/>
          <a:sy n="116" d="100"/>
        </p:scale>
        <p:origin x="416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7E0B5-44A7-9203-FDCF-508302CB40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18BC87-DE68-269B-084B-87181C9A79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F2582B-1F0A-DD84-EDFA-B039199FD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54D52-FA64-924F-BDBD-5D442C1F7DEB}" type="datetimeFigureOut">
              <a:rPr lang="en-CN" smtClean="0"/>
              <a:t>2026/6/12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2795F3-DFCD-CBEC-BC09-E008D0FF9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E25D3A-E658-72FC-DF5A-B3F8EB5A1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0D79C-2134-634E-8941-4D6BF38D97F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73850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47861-BADC-0D0A-059E-92934EB98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983903-9AEF-1575-27B0-C4BC59AABD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0B525A-A191-C0AF-D802-AF5A9E38B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54D52-FA64-924F-BDBD-5D442C1F7DEB}" type="datetimeFigureOut">
              <a:rPr lang="en-CN" smtClean="0"/>
              <a:t>2026/6/12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FD7B82-5BA8-F4BF-3A66-B1D5A788C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DB1165-2E4F-3760-CDFA-9353BF2EA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0D79C-2134-634E-8941-4D6BF38D97F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608966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8C3AC-4070-708A-6835-8A3B10E56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54FEF4-98D7-4CD1-73F4-E3143D4AED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3D9C8A-5DCF-9988-CA27-A03DDFFD5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54D52-FA64-924F-BDBD-5D442C1F7DEB}" type="datetimeFigureOut">
              <a:rPr lang="en-CN" smtClean="0"/>
              <a:t>2026/6/12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76DAE4-83FF-0132-D798-F45A4CF3A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E5CD6D-EAFE-B699-564B-0394A0521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0D79C-2134-634E-8941-4D6BF38D97F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29117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B3DF3-53D3-FE7A-DD0C-95411719F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4B292-C172-5D53-051E-06ABF1CE31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ED8476-CACF-E001-9C26-2F2F1DB2D2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0B95D6-3FD9-5F5F-965F-EF735F219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54D52-FA64-924F-BDBD-5D442C1F7DEB}" type="datetimeFigureOut">
              <a:rPr lang="en-CN" smtClean="0"/>
              <a:t>2026/6/12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C19665-695D-FD41-6420-673143D58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C21A2F-9284-78EC-FB13-E8E17E6F5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0D79C-2134-634E-8941-4D6BF38D97F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830142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F68ED-DE4E-5062-4403-92DB8407B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38338A-4FC8-5BF4-ABB2-EC6949E413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279FC7-113F-DB03-BE57-16EAD1FBC4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40DE5A-F11D-0629-B5D7-FF3D58243F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F1F72E-779B-91F7-7322-9A59F775B0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50A473-B241-7ED7-3805-17237CE65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54D52-FA64-924F-BDBD-5D442C1F7DEB}" type="datetimeFigureOut">
              <a:rPr lang="en-CN" smtClean="0"/>
              <a:t>2026/6/12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70F831-4308-1199-F4F7-0D58182B9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DD1121-246A-3DF2-078C-A43A7101D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0D79C-2134-634E-8941-4D6BF38D97F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2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1A012-144F-3A08-B580-DFEAE8D54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C709A4-0BAE-204F-322A-145C772FF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54D52-FA64-924F-BDBD-5D442C1F7DEB}" type="datetimeFigureOut">
              <a:rPr lang="en-CN" smtClean="0"/>
              <a:t>2026/6/12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32F847-703A-756F-5073-2546FE5A4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D1339A-8823-F57F-5E98-50C88FF98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0D79C-2134-634E-8941-4D6BF38D97F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714535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B13479-ACAA-3D7E-BC52-18159D0C8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54D52-FA64-924F-BDBD-5D442C1F7DEB}" type="datetimeFigureOut">
              <a:rPr lang="en-CN" smtClean="0"/>
              <a:t>2026/6/12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69F6F6-0048-258F-A53F-4E20B0848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DCC2A4-12AC-8F8D-1FEC-596E96C5D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0D79C-2134-634E-8941-4D6BF38D97F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90183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EE885-D6BA-64FB-2E9E-F4BCB5F7E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3BECF4-032F-190E-A438-C022C14710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F65C57-5050-7450-09F9-97389372FF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4570A3-B3CF-1F9F-69CC-0EAD66C1C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54D52-FA64-924F-BDBD-5D442C1F7DEB}" type="datetimeFigureOut">
              <a:rPr lang="en-CN" smtClean="0"/>
              <a:t>2026/6/12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4CF4A8-D1C1-083B-9B6B-B2624F22A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BC7BEC-1ABD-CF48-CA21-8831513CB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0D79C-2134-634E-8941-4D6BF38D97F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82178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12F89-E366-867C-5A1D-B368EAB3B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892B50-10DD-4E1E-99AA-28D52306A6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74386C-C646-2E30-16A8-885B9366CB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0BD72E-7830-5337-B31E-B66542231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54D52-FA64-924F-BDBD-5D442C1F7DEB}" type="datetimeFigureOut">
              <a:rPr lang="en-CN" smtClean="0"/>
              <a:t>2026/6/12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64E15C-1775-6A1B-A6A1-637AF7994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74A06D-6856-CEB9-6484-1A04A5F81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0D79C-2134-634E-8941-4D6BF38D97F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453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973A3-083A-3319-448B-5654D3221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D95F44-5934-B1FA-36ED-64CEE24923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F753D-F2F7-EC85-C2EC-6F9032F07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54D52-FA64-924F-BDBD-5D442C1F7DEB}" type="datetimeFigureOut">
              <a:rPr lang="en-CN" smtClean="0"/>
              <a:t>2026/6/12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ABE0CC-DD3E-B57B-94C3-3BC8FDB08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76D660-238A-D3B4-5527-9C0BE7AC5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0D79C-2134-634E-8941-4D6BF38D97F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011077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78655C-36BC-E978-0D60-6175A6BF98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FD7FB1-A532-A97C-5BE5-24E883CDD6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967FC-C8FC-5030-014F-F9A450AFC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54D52-FA64-924F-BDBD-5D442C1F7DEB}" type="datetimeFigureOut">
              <a:rPr lang="en-CN" smtClean="0"/>
              <a:t>2026/6/12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3C785D-C347-4F58-4023-27092125E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2F35D1-0BBD-6966-00A4-F24A2333C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0D79C-2134-634E-8941-4D6BF38D97F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69933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5EF405-976D-21D5-36B5-EA70A5E62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C0F098-3731-BBFC-78D8-6B820BF657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C601EB-BF3D-9DC4-F19D-4674DF47F6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654D52-FA64-924F-BDBD-5D442C1F7DEB}" type="datetimeFigureOut">
              <a:rPr lang="en-CN" smtClean="0"/>
              <a:t>2026/6/12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D96B19-E41F-F89B-B075-2C300ADC69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DDD65D-B5E2-BCC0-60DD-780FED472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20D79C-2134-634E-8941-4D6BF38D97F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3588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C32F6C5-546E-F936-6C32-92494A3791C4}"/>
              </a:ext>
            </a:extLst>
          </p:cNvPr>
          <p:cNvSpPr txBox="1"/>
          <p:nvPr/>
        </p:nvSpPr>
        <p:spPr>
          <a:xfrm>
            <a:off x="1819674" y="2505670"/>
            <a:ext cx="415049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5400" dirty="0">
                <a:latin typeface="Charter Roman" panose="02040503050506020203" pitchFamily="18" charset="0"/>
              </a:rPr>
              <a:t>CS_basicEEG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D126C4-8352-E026-8167-7DC8B98E2449}"/>
              </a:ext>
            </a:extLst>
          </p:cNvPr>
          <p:cNvSpPr txBox="1"/>
          <p:nvPr/>
        </p:nvSpPr>
        <p:spPr>
          <a:xfrm>
            <a:off x="4420702" y="5454502"/>
            <a:ext cx="335059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harter Roman" panose="02040503050506020203" pitchFamily="18" charset="0"/>
              </a:rPr>
              <a:t>P</a:t>
            </a:r>
            <a:r>
              <a:rPr lang="en-CN" dirty="0">
                <a:latin typeface="Charter Roman" panose="02040503050506020203" pitchFamily="18" charset="0"/>
              </a:rPr>
              <a:t>resenter: hyijie</a:t>
            </a:r>
          </a:p>
          <a:p>
            <a:pPr algn="ctr"/>
            <a:r>
              <a:rPr lang="en-US" dirty="0">
                <a:latin typeface="Charter Roman" panose="02040503050506020203" pitchFamily="18" charset="0"/>
              </a:rPr>
              <a:t>6/13/26</a:t>
            </a:r>
          </a:p>
          <a:p>
            <a:pPr algn="ctr"/>
            <a:endParaRPr lang="en-US" dirty="0">
              <a:latin typeface="Charter Roman" panose="02040503050506020203" pitchFamily="18" charset="0"/>
            </a:endParaRPr>
          </a:p>
          <a:p>
            <a:pPr algn="ctr"/>
            <a:r>
              <a:rPr lang="en-US" dirty="0">
                <a:latin typeface="Charter Roman" panose="02040503050506020203" pitchFamily="18" charset="0"/>
              </a:rPr>
              <a:t>Email: </a:t>
            </a:r>
            <a:r>
              <a:rPr lang="en-US" dirty="0" err="1">
                <a:latin typeface="Charter Roman" panose="02040503050506020203" pitchFamily="18" charset="0"/>
              </a:rPr>
              <a:t>hyijie_psy@foxmail.com</a:t>
            </a:r>
            <a:endParaRPr lang="en-CN" dirty="0">
              <a:latin typeface="Charter Roman" panose="02040503050506020203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3D6983-A739-CA21-411F-4325B478C8DD}"/>
              </a:ext>
            </a:extLst>
          </p:cNvPr>
          <p:cNvSpPr txBox="1"/>
          <p:nvPr/>
        </p:nvSpPr>
        <p:spPr>
          <a:xfrm>
            <a:off x="3894921" y="3549286"/>
            <a:ext cx="47532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harter Roman" panose="02040503050506020203" pitchFamily="18" charset="0"/>
              </a:rPr>
              <a:t>S</a:t>
            </a:r>
            <a:r>
              <a:rPr lang="en-CN" dirty="0">
                <a:latin typeface="Charter Roman" panose="02040503050506020203" pitchFamily="18" charset="0"/>
              </a:rPr>
              <a:t>omething is basic but you still need to know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25B3148-74CE-DD48-BDFC-E609E7A23D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016052" cy="2016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4297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89FE21B-58E4-DF7F-A2CF-DE53EDFD2D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638" y="1414386"/>
            <a:ext cx="3623488" cy="327547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0478CA9-4479-57AD-A6EB-6DEF64FB7C01}"/>
              </a:ext>
            </a:extLst>
          </p:cNvPr>
          <p:cNvSpPr txBox="1"/>
          <p:nvPr/>
        </p:nvSpPr>
        <p:spPr>
          <a:xfrm>
            <a:off x="2062717" y="1966541"/>
            <a:ext cx="173310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2000" dirty="0">
                <a:latin typeface="Charter Roman" panose="02040503050506020203" pitchFamily="18" charset="0"/>
              </a:rPr>
              <a:t>Hi, </a:t>
            </a:r>
            <a:r>
              <a:rPr lang="en-US" sz="2000" dirty="0">
                <a:latin typeface="Charter Roman" panose="02040503050506020203" pitchFamily="18" charset="0"/>
              </a:rPr>
              <a:t>{your name} </a:t>
            </a:r>
            <a:r>
              <a:rPr lang="en-CN" sz="2000" dirty="0">
                <a:latin typeface="Charter Roman" panose="02040503050506020203" pitchFamily="18" charset="0"/>
              </a:rPr>
              <a:t>EEG is good for </a:t>
            </a:r>
            <a:r>
              <a:rPr lang="en-CN" sz="2000" dirty="0">
                <a:latin typeface="Charter Roman" panose="02040503050506020203" pitchFamily="18" charset="0"/>
              </a:rPr>
              <a:t>our questions. So…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1CB45F5-404D-BE91-4B95-862FFA39987E}"/>
              </a:ext>
            </a:extLst>
          </p:cNvPr>
          <p:cNvCxnSpPr>
            <a:cxnSpLocks/>
            <a:stCxn id="4" idx="3"/>
            <a:endCxn id="12" idx="1"/>
          </p:cNvCxnSpPr>
          <p:nvPr/>
        </p:nvCxnSpPr>
        <p:spPr>
          <a:xfrm flipV="1">
            <a:off x="4221126" y="1713293"/>
            <a:ext cx="2073348" cy="13388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68DF1B8-5494-2726-ACC2-7B249C512461}"/>
              </a:ext>
            </a:extLst>
          </p:cNvPr>
          <p:cNvCxnSpPr>
            <a:cxnSpLocks/>
            <a:stCxn id="4" idx="3"/>
            <a:endCxn id="13" idx="1"/>
          </p:cNvCxnSpPr>
          <p:nvPr/>
        </p:nvCxnSpPr>
        <p:spPr>
          <a:xfrm>
            <a:off x="4221126" y="3052121"/>
            <a:ext cx="2073348" cy="21224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B608A06-E4B8-ADF1-EA43-8F4580053478}"/>
              </a:ext>
            </a:extLst>
          </p:cNvPr>
          <p:cNvSpPr txBox="1"/>
          <p:nvPr/>
        </p:nvSpPr>
        <p:spPr>
          <a:xfrm>
            <a:off x="6294474" y="374465"/>
            <a:ext cx="5105885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400" dirty="0">
                <a:latin typeface="Charter Roman" panose="02040503050506020203" pitchFamily="18" charset="0"/>
              </a:rPr>
              <a:t>Data colletion:</a:t>
            </a:r>
          </a:p>
          <a:p>
            <a:endParaRPr lang="en-CN" sz="2400" dirty="0">
              <a:latin typeface="Charter Roman" panose="02040503050506020203" pitchFamily="18" charset="0"/>
            </a:endParaRPr>
          </a:p>
          <a:p>
            <a:r>
              <a:rPr lang="en-CN" sz="2400" dirty="0">
                <a:latin typeface="Charter Roman" panose="02040503050506020203" pitchFamily="18" charset="0"/>
              </a:rPr>
              <a:t>    What devices </a:t>
            </a:r>
            <a:r>
              <a:rPr lang="en-CN" sz="2400" dirty="0">
                <a:latin typeface="Charter Roman" panose="02040503050506020203" pitchFamily="18" charset="0"/>
              </a:rPr>
              <a:t>should </a:t>
            </a:r>
            <a:r>
              <a:rPr lang="en-CN" sz="2400" dirty="0">
                <a:latin typeface="Charter Roman" panose="02040503050506020203" pitchFamily="18" charset="0"/>
              </a:rPr>
              <a:t>know about?</a:t>
            </a:r>
          </a:p>
          <a:p>
            <a:r>
              <a:rPr lang="en-CN" sz="2400" dirty="0">
                <a:latin typeface="Charter Roman" panose="02040503050506020203" pitchFamily="18" charset="0"/>
              </a:rPr>
              <a:t>    How should I use them correctly?</a:t>
            </a:r>
          </a:p>
          <a:p>
            <a:r>
              <a:rPr lang="en-CN" sz="2400" dirty="0">
                <a:latin typeface="Charter Roman" panose="02040503050506020203" pitchFamily="18" charset="0"/>
              </a:rPr>
              <a:t>    How to collect a nice data?</a:t>
            </a:r>
          </a:p>
          <a:p>
            <a:r>
              <a:rPr lang="en-CN" sz="2400" dirty="0">
                <a:latin typeface="Charter Roman" panose="02040503050506020203" pitchFamily="18" charset="0"/>
              </a:rPr>
              <a:t>    </a:t>
            </a:r>
            <a:r>
              <a:rPr lang="en-CN" sz="2400" dirty="0">
                <a:latin typeface="Charter Roman" panose="02040503050506020203" pitchFamily="18" charset="0"/>
              </a:rPr>
              <a:t>…</a:t>
            </a:r>
          </a:p>
          <a:p>
            <a:r>
              <a:rPr lang="en-CN" sz="2400" dirty="0">
                <a:latin typeface="Charter Roman" panose="02040503050506020203" pitchFamily="18" charset="0"/>
              </a:rPr>
              <a:t>   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46BF35-F7BD-0A8C-72FB-B13E31C0EDD6}"/>
              </a:ext>
            </a:extLst>
          </p:cNvPr>
          <p:cNvSpPr txBox="1"/>
          <p:nvPr/>
        </p:nvSpPr>
        <p:spPr>
          <a:xfrm>
            <a:off x="6294474" y="4205028"/>
            <a:ext cx="5732660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400" dirty="0">
                <a:latin typeface="Charter Roman" panose="02040503050506020203" pitchFamily="18" charset="0"/>
              </a:rPr>
              <a:t>Data analysis:</a:t>
            </a:r>
          </a:p>
          <a:p>
            <a:endParaRPr lang="en-CN" sz="2400" dirty="0">
              <a:latin typeface="Charter Roman" panose="02040503050506020203" pitchFamily="18" charset="0"/>
            </a:endParaRPr>
          </a:p>
          <a:p>
            <a:r>
              <a:rPr lang="en-CN" sz="2400" dirty="0">
                <a:latin typeface="Charter Roman" panose="02040503050506020203" pitchFamily="18" charset="0"/>
              </a:rPr>
              <a:t>    How to understand the data structure?</a:t>
            </a:r>
          </a:p>
          <a:p>
            <a:r>
              <a:rPr lang="en-CN" sz="2400" dirty="0">
                <a:latin typeface="Charter Roman" panose="02040503050506020203" pitchFamily="18" charset="0"/>
              </a:rPr>
              <a:t>    What is the analysis pipeline?</a:t>
            </a:r>
          </a:p>
          <a:p>
            <a:r>
              <a:rPr lang="en-CN" sz="2400" dirty="0">
                <a:latin typeface="Charter Roman" panose="02040503050506020203" pitchFamily="18" charset="0"/>
              </a:rPr>
              <a:t>    …</a:t>
            </a:r>
          </a:p>
        </p:txBody>
      </p:sp>
    </p:spTree>
    <p:extLst>
      <p:ext uri="{BB962C8B-B14F-4D97-AF65-F5344CB8AC3E}">
        <p14:creationId xmlns:p14="http://schemas.microsoft.com/office/powerpoint/2010/main" val="2827480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809C8F6-061D-8B09-2FDA-64718354F6FE}"/>
              </a:ext>
            </a:extLst>
          </p:cNvPr>
          <p:cNvSpPr txBox="1"/>
          <p:nvPr/>
        </p:nvSpPr>
        <p:spPr>
          <a:xfrm>
            <a:off x="435935" y="446567"/>
            <a:ext cx="51844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800" dirty="0">
                <a:latin typeface="Charter Roman" panose="02040503050506020203" pitchFamily="18" charset="0"/>
              </a:rPr>
              <a:t>Main devices and collection tips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DA1E47A-3014-9A23-E8C8-0BEBA053DC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7707" y="1222743"/>
            <a:ext cx="2840887" cy="505046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9D65667-B584-6822-7AC4-35EA4C490C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4642" y="1711842"/>
            <a:ext cx="5143204" cy="2893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9727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2CF3ACA-91A9-D384-6A5A-B47D845CCC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816" y="1054050"/>
            <a:ext cx="8752368" cy="542061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C0EB4BE-5029-98C0-10F5-F713D4C6B4C1}"/>
              </a:ext>
            </a:extLst>
          </p:cNvPr>
          <p:cNvSpPr txBox="1"/>
          <p:nvPr/>
        </p:nvSpPr>
        <p:spPr>
          <a:xfrm>
            <a:off x="393405" y="297712"/>
            <a:ext cx="9276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3200" dirty="0">
                <a:latin typeface="Charter Roman" panose="02040503050506020203" pitchFamily="18" charset="0"/>
              </a:rPr>
              <a:t>Tips</a:t>
            </a:r>
          </a:p>
        </p:txBody>
      </p:sp>
    </p:spTree>
    <p:extLst>
      <p:ext uri="{BB962C8B-B14F-4D97-AF65-F5344CB8AC3E}">
        <p14:creationId xmlns:p14="http://schemas.microsoft.com/office/powerpoint/2010/main" val="34732516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7A03E7F-DDEB-667A-185E-F57DD36CE008}"/>
              </a:ext>
            </a:extLst>
          </p:cNvPr>
          <p:cNvSpPr txBox="1"/>
          <p:nvPr/>
        </p:nvSpPr>
        <p:spPr>
          <a:xfrm>
            <a:off x="520995" y="701749"/>
            <a:ext cx="28440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3600" dirty="0">
                <a:latin typeface="Charter Roman" panose="02040503050506020203" pitchFamily="18" charset="0"/>
              </a:rPr>
              <a:t>Data</a:t>
            </a:r>
            <a:r>
              <a:rPr lang="zh-CN" altLang="en-US" sz="3600" dirty="0">
                <a:latin typeface="Charter Roman" panose="02040503050506020203" pitchFamily="18" charset="0"/>
              </a:rPr>
              <a:t> </a:t>
            </a:r>
            <a:r>
              <a:rPr lang="en-US" altLang="zh-CN" sz="3600" dirty="0">
                <a:latin typeface="Charter Roman" panose="02040503050506020203" pitchFamily="18" charset="0"/>
              </a:rPr>
              <a:t>analysis</a:t>
            </a:r>
            <a:endParaRPr lang="en-CN" sz="3600" dirty="0">
              <a:latin typeface="Charter Roman" panose="020405030505060202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94A3BD-B2D3-1116-332A-C8732BB6726E}"/>
              </a:ext>
            </a:extLst>
          </p:cNvPr>
          <p:cNvSpPr txBox="1"/>
          <p:nvPr/>
        </p:nvSpPr>
        <p:spPr>
          <a:xfrm>
            <a:off x="1297172" y="1903228"/>
            <a:ext cx="6205545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Charter Roman" panose="02040503050506020203" pitchFamily="18" charset="0"/>
              </a:rPr>
              <a:t>1_preprocess (metadata)</a:t>
            </a:r>
          </a:p>
          <a:p>
            <a:r>
              <a:rPr lang="en-US" sz="4000" dirty="0">
                <a:latin typeface="Charter Roman" panose="02040503050506020203" pitchFamily="18" charset="0"/>
              </a:rPr>
              <a:t>2_channel_select</a:t>
            </a:r>
          </a:p>
          <a:p>
            <a:r>
              <a:rPr lang="en-US" sz="4000" dirty="0">
                <a:latin typeface="Charter Roman" panose="02040503050506020203" pitchFamily="18" charset="0"/>
              </a:rPr>
              <a:t>3_permutation_analysis</a:t>
            </a:r>
          </a:p>
          <a:p>
            <a:r>
              <a:rPr lang="en-US" sz="4000" dirty="0">
                <a:latin typeface="Charter Roman" panose="02040503050506020203" pitchFamily="18" charset="0"/>
              </a:rPr>
              <a:t>4_time_frequency_analysis</a:t>
            </a:r>
            <a:endParaRPr lang="en-CN" sz="4000" dirty="0">
              <a:latin typeface="Charter Roman" panose="02040503050506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55137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360131D-787D-03A9-2971-0EF574176821}"/>
              </a:ext>
            </a:extLst>
          </p:cNvPr>
          <p:cNvSpPr txBox="1"/>
          <p:nvPr/>
        </p:nvSpPr>
        <p:spPr>
          <a:xfrm>
            <a:off x="366213" y="482396"/>
            <a:ext cx="61007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harter Roman" panose="02040503050506020203" pitchFamily="18" charset="0"/>
              </a:rPr>
              <a:t>3_permutation_analysis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0729BA6-33FE-9918-0ADE-E215E92564BE}"/>
              </a:ext>
            </a:extLst>
          </p:cNvPr>
          <p:cNvCxnSpPr/>
          <p:nvPr/>
        </p:nvCxnSpPr>
        <p:spPr>
          <a:xfrm>
            <a:off x="678656" y="2828260"/>
            <a:ext cx="199011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0FDB49D-679E-1E70-D639-9AA3BACC3434}"/>
              </a:ext>
            </a:extLst>
          </p:cNvPr>
          <p:cNvCxnSpPr/>
          <p:nvPr/>
        </p:nvCxnSpPr>
        <p:spPr>
          <a:xfrm>
            <a:off x="2668772" y="2828260"/>
            <a:ext cx="199011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Freeform 20">
            <a:extLst>
              <a:ext uri="{FF2B5EF4-FFF2-40B4-BE49-F238E27FC236}">
                <a16:creationId xmlns:a16="http://schemas.microsoft.com/office/drawing/2014/main" id="{F84E67CE-BEFB-64F1-EFAB-6F572BFFEE96}"/>
              </a:ext>
            </a:extLst>
          </p:cNvPr>
          <p:cNvSpPr/>
          <p:nvPr/>
        </p:nvSpPr>
        <p:spPr>
          <a:xfrm>
            <a:off x="616688" y="1127053"/>
            <a:ext cx="2573079" cy="1456660"/>
          </a:xfrm>
          <a:custGeom>
            <a:avLst/>
            <a:gdLst>
              <a:gd name="csX0" fmla="*/ 0 w 2573079"/>
              <a:gd name="csY0" fmla="*/ 1158949 h 1158949"/>
              <a:gd name="csX1" fmla="*/ 106326 w 2573079"/>
              <a:gd name="csY1" fmla="*/ 1137684 h 1158949"/>
              <a:gd name="csX2" fmla="*/ 138224 w 2573079"/>
              <a:gd name="csY2" fmla="*/ 1116418 h 1158949"/>
              <a:gd name="csX3" fmla="*/ 202019 w 2573079"/>
              <a:gd name="csY3" fmla="*/ 1095153 h 1158949"/>
              <a:gd name="csX4" fmla="*/ 233917 w 2573079"/>
              <a:gd name="csY4" fmla="*/ 1084521 h 1158949"/>
              <a:gd name="csX5" fmla="*/ 265814 w 2573079"/>
              <a:gd name="csY5" fmla="*/ 1063256 h 1158949"/>
              <a:gd name="csX6" fmla="*/ 350875 w 2573079"/>
              <a:gd name="csY6" fmla="*/ 1041990 h 1158949"/>
              <a:gd name="csX7" fmla="*/ 404038 w 2573079"/>
              <a:gd name="csY7" fmla="*/ 999460 h 1158949"/>
              <a:gd name="csX8" fmla="*/ 425303 w 2573079"/>
              <a:gd name="csY8" fmla="*/ 967563 h 1158949"/>
              <a:gd name="csX9" fmla="*/ 446568 w 2573079"/>
              <a:gd name="csY9" fmla="*/ 903767 h 1158949"/>
              <a:gd name="csX10" fmla="*/ 467833 w 2573079"/>
              <a:gd name="csY10" fmla="*/ 871870 h 1158949"/>
              <a:gd name="csX11" fmla="*/ 489098 w 2573079"/>
              <a:gd name="csY11" fmla="*/ 786809 h 1158949"/>
              <a:gd name="csX12" fmla="*/ 510363 w 2573079"/>
              <a:gd name="csY12" fmla="*/ 754911 h 1158949"/>
              <a:gd name="csX13" fmla="*/ 552893 w 2573079"/>
              <a:gd name="csY13" fmla="*/ 606056 h 1158949"/>
              <a:gd name="csX14" fmla="*/ 574159 w 2573079"/>
              <a:gd name="csY14" fmla="*/ 531628 h 1158949"/>
              <a:gd name="csX15" fmla="*/ 595424 w 2573079"/>
              <a:gd name="csY15" fmla="*/ 467832 h 1158949"/>
              <a:gd name="csX16" fmla="*/ 616689 w 2573079"/>
              <a:gd name="csY16" fmla="*/ 361507 h 1158949"/>
              <a:gd name="csX17" fmla="*/ 627321 w 2573079"/>
              <a:gd name="csY17" fmla="*/ 287079 h 1158949"/>
              <a:gd name="csX18" fmla="*/ 648586 w 2573079"/>
              <a:gd name="csY18" fmla="*/ 223284 h 1158949"/>
              <a:gd name="csX19" fmla="*/ 733647 w 2573079"/>
              <a:gd name="csY19" fmla="*/ 148856 h 1158949"/>
              <a:gd name="csX20" fmla="*/ 786810 w 2573079"/>
              <a:gd name="csY20" fmla="*/ 127590 h 1158949"/>
              <a:gd name="csX21" fmla="*/ 818707 w 2573079"/>
              <a:gd name="csY21" fmla="*/ 106325 h 1158949"/>
              <a:gd name="csX22" fmla="*/ 871870 w 2573079"/>
              <a:gd name="csY22" fmla="*/ 95693 h 1158949"/>
              <a:gd name="csX23" fmla="*/ 978196 w 2573079"/>
              <a:gd name="csY23" fmla="*/ 63795 h 1158949"/>
              <a:gd name="csX24" fmla="*/ 1010093 w 2573079"/>
              <a:gd name="csY24" fmla="*/ 53163 h 1158949"/>
              <a:gd name="csX25" fmla="*/ 1095154 w 2573079"/>
              <a:gd name="csY25" fmla="*/ 10632 h 1158949"/>
              <a:gd name="csX26" fmla="*/ 1148317 w 2573079"/>
              <a:gd name="csY26" fmla="*/ 0 h 1158949"/>
              <a:gd name="csX27" fmla="*/ 1307805 w 2573079"/>
              <a:gd name="csY27" fmla="*/ 21265 h 1158949"/>
              <a:gd name="csX28" fmla="*/ 1371600 w 2573079"/>
              <a:gd name="csY28" fmla="*/ 63795 h 1158949"/>
              <a:gd name="csX29" fmla="*/ 1392865 w 2573079"/>
              <a:gd name="csY29" fmla="*/ 95693 h 1158949"/>
              <a:gd name="csX30" fmla="*/ 1446028 w 2573079"/>
              <a:gd name="csY30" fmla="*/ 148856 h 1158949"/>
              <a:gd name="csX31" fmla="*/ 1488559 w 2573079"/>
              <a:gd name="csY31" fmla="*/ 202018 h 1158949"/>
              <a:gd name="csX32" fmla="*/ 1562986 w 2573079"/>
              <a:gd name="csY32" fmla="*/ 318977 h 1158949"/>
              <a:gd name="csX33" fmla="*/ 1594884 w 2573079"/>
              <a:gd name="csY33" fmla="*/ 393404 h 1158949"/>
              <a:gd name="csX34" fmla="*/ 1605517 w 2573079"/>
              <a:gd name="csY34" fmla="*/ 425302 h 1158949"/>
              <a:gd name="csX35" fmla="*/ 1637414 w 2573079"/>
              <a:gd name="csY35" fmla="*/ 457200 h 1158949"/>
              <a:gd name="csX36" fmla="*/ 1701210 w 2573079"/>
              <a:gd name="csY36" fmla="*/ 552893 h 1158949"/>
              <a:gd name="csX37" fmla="*/ 1743740 w 2573079"/>
              <a:gd name="csY37" fmla="*/ 595423 h 1158949"/>
              <a:gd name="csX38" fmla="*/ 1818168 w 2573079"/>
              <a:gd name="csY38" fmla="*/ 691116 h 1158949"/>
              <a:gd name="csX39" fmla="*/ 1839433 w 2573079"/>
              <a:gd name="csY39" fmla="*/ 723014 h 1158949"/>
              <a:gd name="csX40" fmla="*/ 1871331 w 2573079"/>
              <a:gd name="csY40" fmla="*/ 754911 h 1158949"/>
              <a:gd name="csX41" fmla="*/ 1913861 w 2573079"/>
              <a:gd name="csY41" fmla="*/ 818707 h 1158949"/>
              <a:gd name="csX42" fmla="*/ 1977656 w 2573079"/>
              <a:gd name="csY42" fmla="*/ 882502 h 1158949"/>
              <a:gd name="csX43" fmla="*/ 2009554 w 2573079"/>
              <a:gd name="csY43" fmla="*/ 914400 h 1158949"/>
              <a:gd name="csX44" fmla="*/ 2052084 w 2573079"/>
              <a:gd name="csY44" fmla="*/ 967563 h 1158949"/>
              <a:gd name="csX45" fmla="*/ 2115879 w 2573079"/>
              <a:gd name="csY45" fmla="*/ 988828 h 1158949"/>
              <a:gd name="csX46" fmla="*/ 2147777 w 2573079"/>
              <a:gd name="csY46" fmla="*/ 999460 h 1158949"/>
              <a:gd name="csX47" fmla="*/ 2190307 w 2573079"/>
              <a:gd name="csY47" fmla="*/ 1010093 h 1158949"/>
              <a:gd name="csX48" fmla="*/ 2286000 w 2573079"/>
              <a:gd name="csY48" fmla="*/ 1041990 h 1158949"/>
              <a:gd name="csX49" fmla="*/ 2371061 w 2573079"/>
              <a:gd name="csY49" fmla="*/ 1073888 h 1158949"/>
              <a:gd name="csX50" fmla="*/ 2573079 w 2573079"/>
              <a:gd name="csY50" fmla="*/ 1084521 h 11589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</a:cxnLst>
            <a:rect l="l" t="t" r="r" b="b"/>
            <a:pathLst>
              <a:path w="2573079" h="1158949">
                <a:moveTo>
                  <a:pt x="0" y="1158949"/>
                </a:moveTo>
                <a:cubicBezTo>
                  <a:pt x="35442" y="1151861"/>
                  <a:pt x="71780" y="1148314"/>
                  <a:pt x="106326" y="1137684"/>
                </a:cubicBezTo>
                <a:cubicBezTo>
                  <a:pt x="118540" y="1133926"/>
                  <a:pt x="126546" y="1121608"/>
                  <a:pt x="138224" y="1116418"/>
                </a:cubicBezTo>
                <a:cubicBezTo>
                  <a:pt x="158707" y="1107314"/>
                  <a:pt x="180754" y="1102241"/>
                  <a:pt x="202019" y="1095153"/>
                </a:cubicBezTo>
                <a:lnTo>
                  <a:pt x="233917" y="1084521"/>
                </a:lnTo>
                <a:cubicBezTo>
                  <a:pt x="244549" y="1077433"/>
                  <a:pt x="253805" y="1067623"/>
                  <a:pt x="265814" y="1063256"/>
                </a:cubicBezTo>
                <a:cubicBezTo>
                  <a:pt x="293281" y="1053268"/>
                  <a:pt x="350875" y="1041990"/>
                  <a:pt x="350875" y="1041990"/>
                </a:cubicBezTo>
                <a:cubicBezTo>
                  <a:pt x="374557" y="1026202"/>
                  <a:pt x="386724" y="1021102"/>
                  <a:pt x="404038" y="999460"/>
                </a:cubicBezTo>
                <a:cubicBezTo>
                  <a:pt x="412021" y="989482"/>
                  <a:pt x="418215" y="978195"/>
                  <a:pt x="425303" y="967563"/>
                </a:cubicBezTo>
                <a:cubicBezTo>
                  <a:pt x="432391" y="946298"/>
                  <a:pt x="437464" y="924251"/>
                  <a:pt x="446568" y="903767"/>
                </a:cubicBezTo>
                <a:cubicBezTo>
                  <a:pt x="451758" y="892090"/>
                  <a:pt x="463466" y="883879"/>
                  <a:pt x="467833" y="871870"/>
                </a:cubicBezTo>
                <a:cubicBezTo>
                  <a:pt x="477821" y="844403"/>
                  <a:pt x="472886" y="811127"/>
                  <a:pt x="489098" y="786809"/>
                </a:cubicBezTo>
                <a:cubicBezTo>
                  <a:pt x="496186" y="776176"/>
                  <a:pt x="505173" y="766588"/>
                  <a:pt x="510363" y="754911"/>
                </a:cubicBezTo>
                <a:cubicBezTo>
                  <a:pt x="537671" y="693467"/>
                  <a:pt x="530362" y="673646"/>
                  <a:pt x="552893" y="606056"/>
                </a:cubicBezTo>
                <a:cubicBezTo>
                  <a:pt x="588618" y="498884"/>
                  <a:pt x="534117" y="665100"/>
                  <a:pt x="574159" y="531628"/>
                </a:cubicBezTo>
                <a:cubicBezTo>
                  <a:pt x="580600" y="510158"/>
                  <a:pt x="591028" y="489812"/>
                  <a:pt x="595424" y="467832"/>
                </a:cubicBezTo>
                <a:cubicBezTo>
                  <a:pt x="602512" y="432390"/>
                  <a:pt x="611578" y="397287"/>
                  <a:pt x="616689" y="361507"/>
                </a:cubicBezTo>
                <a:cubicBezTo>
                  <a:pt x="620233" y="336698"/>
                  <a:pt x="621686" y="311498"/>
                  <a:pt x="627321" y="287079"/>
                </a:cubicBezTo>
                <a:cubicBezTo>
                  <a:pt x="632361" y="265238"/>
                  <a:pt x="632736" y="239134"/>
                  <a:pt x="648586" y="223284"/>
                </a:cubicBezTo>
                <a:cubicBezTo>
                  <a:pt x="676304" y="195566"/>
                  <a:pt x="698479" y="166440"/>
                  <a:pt x="733647" y="148856"/>
                </a:cubicBezTo>
                <a:cubicBezTo>
                  <a:pt x="750718" y="140320"/>
                  <a:pt x="769739" y="136126"/>
                  <a:pt x="786810" y="127590"/>
                </a:cubicBezTo>
                <a:cubicBezTo>
                  <a:pt x="798239" y="121875"/>
                  <a:pt x="806742" y="110812"/>
                  <a:pt x="818707" y="106325"/>
                </a:cubicBezTo>
                <a:cubicBezTo>
                  <a:pt x="835628" y="99980"/>
                  <a:pt x="854228" y="99613"/>
                  <a:pt x="871870" y="95693"/>
                </a:cubicBezTo>
                <a:cubicBezTo>
                  <a:pt x="920070" y="84982"/>
                  <a:pt x="925197" y="81461"/>
                  <a:pt x="978196" y="63795"/>
                </a:cubicBezTo>
                <a:cubicBezTo>
                  <a:pt x="988828" y="60251"/>
                  <a:pt x="1000069" y="58175"/>
                  <a:pt x="1010093" y="53163"/>
                </a:cubicBezTo>
                <a:cubicBezTo>
                  <a:pt x="1038447" y="38986"/>
                  <a:pt x="1064069" y="16849"/>
                  <a:pt x="1095154" y="10632"/>
                </a:cubicBezTo>
                <a:lnTo>
                  <a:pt x="1148317" y="0"/>
                </a:lnTo>
                <a:cubicBezTo>
                  <a:pt x="1157375" y="755"/>
                  <a:pt x="1269482" y="-26"/>
                  <a:pt x="1307805" y="21265"/>
                </a:cubicBezTo>
                <a:cubicBezTo>
                  <a:pt x="1330146" y="33677"/>
                  <a:pt x="1371600" y="63795"/>
                  <a:pt x="1371600" y="63795"/>
                </a:cubicBezTo>
                <a:cubicBezTo>
                  <a:pt x="1378688" y="74428"/>
                  <a:pt x="1384450" y="86076"/>
                  <a:pt x="1392865" y="95693"/>
                </a:cubicBezTo>
                <a:cubicBezTo>
                  <a:pt x="1409368" y="114554"/>
                  <a:pt x="1432126" y="128004"/>
                  <a:pt x="1446028" y="148856"/>
                </a:cubicBezTo>
                <a:cubicBezTo>
                  <a:pt x="1472854" y="189094"/>
                  <a:pt x="1458257" y="171717"/>
                  <a:pt x="1488559" y="202018"/>
                </a:cubicBezTo>
                <a:cubicBezTo>
                  <a:pt x="1537814" y="300528"/>
                  <a:pt x="1508674" y="264663"/>
                  <a:pt x="1562986" y="318977"/>
                </a:cubicBezTo>
                <a:cubicBezTo>
                  <a:pt x="1587924" y="393785"/>
                  <a:pt x="1555466" y="301429"/>
                  <a:pt x="1594884" y="393404"/>
                </a:cubicBezTo>
                <a:cubicBezTo>
                  <a:pt x="1599299" y="403706"/>
                  <a:pt x="1599300" y="415976"/>
                  <a:pt x="1605517" y="425302"/>
                </a:cubicBezTo>
                <a:cubicBezTo>
                  <a:pt x="1613858" y="437813"/>
                  <a:pt x="1627628" y="445783"/>
                  <a:pt x="1637414" y="457200"/>
                </a:cubicBezTo>
                <a:cubicBezTo>
                  <a:pt x="1732252" y="567845"/>
                  <a:pt x="1601255" y="424380"/>
                  <a:pt x="1701210" y="552893"/>
                </a:cubicBezTo>
                <a:cubicBezTo>
                  <a:pt x="1713519" y="568719"/>
                  <a:pt x="1730790" y="580118"/>
                  <a:pt x="1743740" y="595423"/>
                </a:cubicBezTo>
                <a:cubicBezTo>
                  <a:pt x="1769843" y="626271"/>
                  <a:pt x="1795753" y="657493"/>
                  <a:pt x="1818168" y="691116"/>
                </a:cubicBezTo>
                <a:cubicBezTo>
                  <a:pt x="1825256" y="701749"/>
                  <a:pt x="1831252" y="713197"/>
                  <a:pt x="1839433" y="723014"/>
                </a:cubicBezTo>
                <a:cubicBezTo>
                  <a:pt x="1849059" y="734565"/>
                  <a:pt x="1862099" y="743042"/>
                  <a:pt x="1871331" y="754911"/>
                </a:cubicBezTo>
                <a:cubicBezTo>
                  <a:pt x="1887022" y="775085"/>
                  <a:pt x="1895789" y="800635"/>
                  <a:pt x="1913861" y="818707"/>
                </a:cubicBezTo>
                <a:lnTo>
                  <a:pt x="1977656" y="882502"/>
                </a:lnTo>
                <a:cubicBezTo>
                  <a:pt x="1988289" y="893135"/>
                  <a:pt x="2001213" y="901889"/>
                  <a:pt x="2009554" y="914400"/>
                </a:cubicBezTo>
                <a:cubicBezTo>
                  <a:pt x="2017065" y="925667"/>
                  <a:pt x="2036935" y="959988"/>
                  <a:pt x="2052084" y="967563"/>
                </a:cubicBezTo>
                <a:cubicBezTo>
                  <a:pt x="2072133" y="977588"/>
                  <a:pt x="2094614" y="981740"/>
                  <a:pt x="2115879" y="988828"/>
                </a:cubicBezTo>
                <a:cubicBezTo>
                  <a:pt x="2126512" y="992372"/>
                  <a:pt x="2136904" y="996742"/>
                  <a:pt x="2147777" y="999460"/>
                </a:cubicBezTo>
                <a:cubicBezTo>
                  <a:pt x="2161954" y="1003004"/>
                  <a:pt x="2176624" y="1004962"/>
                  <a:pt x="2190307" y="1010093"/>
                </a:cubicBezTo>
                <a:cubicBezTo>
                  <a:pt x="2290920" y="1047823"/>
                  <a:pt x="2169503" y="1018691"/>
                  <a:pt x="2286000" y="1041990"/>
                </a:cubicBezTo>
                <a:cubicBezTo>
                  <a:pt x="2287487" y="1042585"/>
                  <a:pt x="2357512" y="1071803"/>
                  <a:pt x="2371061" y="1073888"/>
                </a:cubicBezTo>
                <a:cubicBezTo>
                  <a:pt x="2460807" y="1087695"/>
                  <a:pt x="2485038" y="1084521"/>
                  <a:pt x="2573079" y="1084521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D480E331-17EE-509B-EB1A-B6D01BEBD0EC}"/>
              </a:ext>
            </a:extLst>
          </p:cNvPr>
          <p:cNvSpPr/>
          <p:nvPr/>
        </p:nvSpPr>
        <p:spPr>
          <a:xfrm>
            <a:off x="2130055" y="1127053"/>
            <a:ext cx="2573079" cy="1456660"/>
          </a:xfrm>
          <a:custGeom>
            <a:avLst/>
            <a:gdLst>
              <a:gd name="csX0" fmla="*/ 0 w 2573079"/>
              <a:gd name="csY0" fmla="*/ 1158949 h 1158949"/>
              <a:gd name="csX1" fmla="*/ 106326 w 2573079"/>
              <a:gd name="csY1" fmla="*/ 1137684 h 1158949"/>
              <a:gd name="csX2" fmla="*/ 138224 w 2573079"/>
              <a:gd name="csY2" fmla="*/ 1116418 h 1158949"/>
              <a:gd name="csX3" fmla="*/ 202019 w 2573079"/>
              <a:gd name="csY3" fmla="*/ 1095153 h 1158949"/>
              <a:gd name="csX4" fmla="*/ 233917 w 2573079"/>
              <a:gd name="csY4" fmla="*/ 1084521 h 1158949"/>
              <a:gd name="csX5" fmla="*/ 265814 w 2573079"/>
              <a:gd name="csY5" fmla="*/ 1063256 h 1158949"/>
              <a:gd name="csX6" fmla="*/ 350875 w 2573079"/>
              <a:gd name="csY6" fmla="*/ 1041990 h 1158949"/>
              <a:gd name="csX7" fmla="*/ 404038 w 2573079"/>
              <a:gd name="csY7" fmla="*/ 999460 h 1158949"/>
              <a:gd name="csX8" fmla="*/ 425303 w 2573079"/>
              <a:gd name="csY8" fmla="*/ 967563 h 1158949"/>
              <a:gd name="csX9" fmla="*/ 446568 w 2573079"/>
              <a:gd name="csY9" fmla="*/ 903767 h 1158949"/>
              <a:gd name="csX10" fmla="*/ 467833 w 2573079"/>
              <a:gd name="csY10" fmla="*/ 871870 h 1158949"/>
              <a:gd name="csX11" fmla="*/ 489098 w 2573079"/>
              <a:gd name="csY11" fmla="*/ 786809 h 1158949"/>
              <a:gd name="csX12" fmla="*/ 510363 w 2573079"/>
              <a:gd name="csY12" fmla="*/ 754911 h 1158949"/>
              <a:gd name="csX13" fmla="*/ 552893 w 2573079"/>
              <a:gd name="csY13" fmla="*/ 606056 h 1158949"/>
              <a:gd name="csX14" fmla="*/ 574159 w 2573079"/>
              <a:gd name="csY14" fmla="*/ 531628 h 1158949"/>
              <a:gd name="csX15" fmla="*/ 595424 w 2573079"/>
              <a:gd name="csY15" fmla="*/ 467832 h 1158949"/>
              <a:gd name="csX16" fmla="*/ 616689 w 2573079"/>
              <a:gd name="csY16" fmla="*/ 361507 h 1158949"/>
              <a:gd name="csX17" fmla="*/ 627321 w 2573079"/>
              <a:gd name="csY17" fmla="*/ 287079 h 1158949"/>
              <a:gd name="csX18" fmla="*/ 648586 w 2573079"/>
              <a:gd name="csY18" fmla="*/ 223284 h 1158949"/>
              <a:gd name="csX19" fmla="*/ 733647 w 2573079"/>
              <a:gd name="csY19" fmla="*/ 148856 h 1158949"/>
              <a:gd name="csX20" fmla="*/ 786810 w 2573079"/>
              <a:gd name="csY20" fmla="*/ 127590 h 1158949"/>
              <a:gd name="csX21" fmla="*/ 818707 w 2573079"/>
              <a:gd name="csY21" fmla="*/ 106325 h 1158949"/>
              <a:gd name="csX22" fmla="*/ 871870 w 2573079"/>
              <a:gd name="csY22" fmla="*/ 95693 h 1158949"/>
              <a:gd name="csX23" fmla="*/ 978196 w 2573079"/>
              <a:gd name="csY23" fmla="*/ 63795 h 1158949"/>
              <a:gd name="csX24" fmla="*/ 1010093 w 2573079"/>
              <a:gd name="csY24" fmla="*/ 53163 h 1158949"/>
              <a:gd name="csX25" fmla="*/ 1095154 w 2573079"/>
              <a:gd name="csY25" fmla="*/ 10632 h 1158949"/>
              <a:gd name="csX26" fmla="*/ 1148317 w 2573079"/>
              <a:gd name="csY26" fmla="*/ 0 h 1158949"/>
              <a:gd name="csX27" fmla="*/ 1307805 w 2573079"/>
              <a:gd name="csY27" fmla="*/ 21265 h 1158949"/>
              <a:gd name="csX28" fmla="*/ 1371600 w 2573079"/>
              <a:gd name="csY28" fmla="*/ 63795 h 1158949"/>
              <a:gd name="csX29" fmla="*/ 1392865 w 2573079"/>
              <a:gd name="csY29" fmla="*/ 95693 h 1158949"/>
              <a:gd name="csX30" fmla="*/ 1446028 w 2573079"/>
              <a:gd name="csY30" fmla="*/ 148856 h 1158949"/>
              <a:gd name="csX31" fmla="*/ 1488559 w 2573079"/>
              <a:gd name="csY31" fmla="*/ 202018 h 1158949"/>
              <a:gd name="csX32" fmla="*/ 1562986 w 2573079"/>
              <a:gd name="csY32" fmla="*/ 318977 h 1158949"/>
              <a:gd name="csX33" fmla="*/ 1594884 w 2573079"/>
              <a:gd name="csY33" fmla="*/ 393404 h 1158949"/>
              <a:gd name="csX34" fmla="*/ 1605517 w 2573079"/>
              <a:gd name="csY34" fmla="*/ 425302 h 1158949"/>
              <a:gd name="csX35" fmla="*/ 1637414 w 2573079"/>
              <a:gd name="csY35" fmla="*/ 457200 h 1158949"/>
              <a:gd name="csX36" fmla="*/ 1701210 w 2573079"/>
              <a:gd name="csY36" fmla="*/ 552893 h 1158949"/>
              <a:gd name="csX37" fmla="*/ 1743740 w 2573079"/>
              <a:gd name="csY37" fmla="*/ 595423 h 1158949"/>
              <a:gd name="csX38" fmla="*/ 1818168 w 2573079"/>
              <a:gd name="csY38" fmla="*/ 691116 h 1158949"/>
              <a:gd name="csX39" fmla="*/ 1839433 w 2573079"/>
              <a:gd name="csY39" fmla="*/ 723014 h 1158949"/>
              <a:gd name="csX40" fmla="*/ 1871331 w 2573079"/>
              <a:gd name="csY40" fmla="*/ 754911 h 1158949"/>
              <a:gd name="csX41" fmla="*/ 1913861 w 2573079"/>
              <a:gd name="csY41" fmla="*/ 818707 h 1158949"/>
              <a:gd name="csX42" fmla="*/ 1977656 w 2573079"/>
              <a:gd name="csY42" fmla="*/ 882502 h 1158949"/>
              <a:gd name="csX43" fmla="*/ 2009554 w 2573079"/>
              <a:gd name="csY43" fmla="*/ 914400 h 1158949"/>
              <a:gd name="csX44" fmla="*/ 2052084 w 2573079"/>
              <a:gd name="csY44" fmla="*/ 967563 h 1158949"/>
              <a:gd name="csX45" fmla="*/ 2115879 w 2573079"/>
              <a:gd name="csY45" fmla="*/ 988828 h 1158949"/>
              <a:gd name="csX46" fmla="*/ 2147777 w 2573079"/>
              <a:gd name="csY46" fmla="*/ 999460 h 1158949"/>
              <a:gd name="csX47" fmla="*/ 2190307 w 2573079"/>
              <a:gd name="csY47" fmla="*/ 1010093 h 1158949"/>
              <a:gd name="csX48" fmla="*/ 2286000 w 2573079"/>
              <a:gd name="csY48" fmla="*/ 1041990 h 1158949"/>
              <a:gd name="csX49" fmla="*/ 2371061 w 2573079"/>
              <a:gd name="csY49" fmla="*/ 1073888 h 1158949"/>
              <a:gd name="csX50" fmla="*/ 2573079 w 2573079"/>
              <a:gd name="csY50" fmla="*/ 1084521 h 11589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</a:cxnLst>
            <a:rect l="l" t="t" r="r" b="b"/>
            <a:pathLst>
              <a:path w="2573079" h="1158949">
                <a:moveTo>
                  <a:pt x="0" y="1158949"/>
                </a:moveTo>
                <a:cubicBezTo>
                  <a:pt x="35442" y="1151861"/>
                  <a:pt x="71780" y="1148314"/>
                  <a:pt x="106326" y="1137684"/>
                </a:cubicBezTo>
                <a:cubicBezTo>
                  <a:pt x="118540" y="1133926"/>
                  <a:pt x="126546" y="1121608"/>
                  <a:pt x="138224" y="1116418"/>
                </a:cubicBezTo>
                <a:cubicBezTo>
                  <a:pt x="158707" y="1107314"/>
                  <a:pt x="180754" y="1102241"/>
                  <a:pt x="202019" y="1095153"/>
                </a:cubicBezTo>
                <a:lnTo>
                  <a:pt x="233917" y="1084521"/>
                </a:lnTo>
                <a:cubicBezTo>
                  <a:pt x="244549" y="1077433"/>
                  <a:pt x="253805" y="1067623"/>
                  <a:pt x="265814" y="1063256"/>
                </a:cubicBezTo>
                <a:cubicBezTo>
                  <a:pt x="293281" y="1053268"/>
                  <a:pt x="350875" y="1041990"/>
                  <a:pt x="350875" y="1041990"/>
                </a:cubicBezTo>
                <a:cubicBezTo>
                  <a:pt x="374557" y="1026202"/>
                  <a:pt x="386724" y="1021102"/>
                  <a:pt x="404038" y="999460"/>
                </a:cubicBezTo>
                <a:cubicBezTo>
                  <a:pt x="412021" y="989482"/>
                  <a:pt x="418215" y="978195"/>
                  <a:pt x="425303" y="967563"/>
                </a:cubicBezTo>
                <a:cubicBezTo>
                  <a:pt x="432391" y="946298"/>
                  <a:pt x="437464" y="924251"/>
                  <a:pt x="446568" y="903767"/>
                </a:cubicBezTo>
                <a:cubicBezTo>
                  <a:pt x="451758" y="892090"/>
                  <a:pt x="463466" y="883879"/>
                  <a:pt x="467833" y="871870"/>
                </a:cubicBezTo>
                <a:cubicBezTo>
                  <a:pt x="477821" y="844403"/>
                  <a:pt x="472886" y="811127"/>
                  <a:pt x="489098" y="786809"/>
                </a:cubicBezTo>
                <a:cubicBezTo>
                  <a:pt x="496186" y="776176"/>
                  <a:pt x="505173" y="766588"/>
                  <a:pt x="510363" y="754911"/>
                </a:cubicBezTo>
                <a:cubicBezTo>
                  <a:pt x="537671" y="693467"/>
                  <a:pt x="530362" y="673646"/>
                  <a:pt x="552893" y="606056"/>
                </a:cubicBezTo>
                <a:cubicBezTo>
                  <a:pt x="588618" y="498884"/>
                  <a:pt x="534117" y="665100"/>
                  <a:pt x="574159" y="531628"/>
                </a:cubicBezTo>
                <a:cubicBezTo>
                  <a:pt x="580600" y="510158"/>
                  <a:pt x="591028" y="489812"/>
                  <a:pt x="595424" y="467832"/>
                </a:cubicBezTo>
                <a:cubicBezTo>
                  <a:pt x="602512" y="432390"/>
                  <a:pt x="611578" y="397287"/>
                  <a:pt x="616689" y="361507"/>
                </a:cubicBezTo>
                <a:cubicBezTo>
                  <a:pt x="620233" y="336698"/>
                  <a:pt x="621686" y="311498"/>
                  <a:pt x="627321" y="287079"/>
                </a:cubicBezTo>
                <a:cubicBezTo>
                  <a:pt x="632361" y="265238"/>
                  <a:pt x="632736" y="239134"/>
                  <a:pt x="648586" y="223284"/>
                </a:cubicBezTo>
                <a:cubicBezTo>
                  <a:pt x="676304" y="195566"/>
                  <a:pt x="698479" y="166440"/>
                  <a:pt x="733647" y="148856"/>
                </a:cubicBezTo>
                <a:cubicBezTo>
                  <a:pt x="750718" y="140320"/>
                  <a:pt x="769739" y="136126"/>
                  <a:pt x="786810" y="127590"/>
                </a:cubicBezTo>
                <a:cubicBezTo>
                  <a:pt x="798239" y="121875"/>
                  <a:pt x="806742" y="110812"/>
                  <a:pt x="818707" y="106325"/>
                </a:cubicBezTo>
                <a:cubicBezTo>
                  <a:pt x="835628" y="99980"/>
                  <a:pt x="854228" y="99613"/>
                  <a:pt x="871870" y="95693"/>
                </a:cubicBezTo>
                <a:cubicBezTo>
                  <a:pt x="920070" y="84982"/>
                  <a:pt x="925197" y="81461"/>
                  <a:pt x="978196" y="63795"/>
                </a:cubicBezTo>
                <a:cubicBezTo>
                  <a:pt x="988828" y="60251"/>
                  <a:pt x="1000069" y="58175"/>
                  <a:pt x="1010093" y="53163"/>
                </a:cubicBezTo>
                <a:cubicBezTo>
                  <a:pt x="1038447" y="38986"/>
                  <a:pt x="1064069" y="16849"/>
                  <a:pt x="1095154" y="10632"/>
                </a:cubicBezTo>
                <a:lnTo>
                  <a:pt x="1148317" y="0"/>
                </a:lnTo>
                <a:cubicBezTo>
                  <a:pt x="1157375" y="755"/>
                  <a:pt x="1269482" y="-26"/>
                  <a:pt x="1307805" y="21265"/>
                </a:cubicBezTo>
                <a:cubicBezTo>
                  <a:pt x="1330146" y="33677"/>
                  <a:pt x="1371600" y="63795"/>
                  <a:pt x="1371600" y="63795"/>
                </a:cubicBezTo>
                <a:cubicBezTo>
                  <a:pt x="1378688" y="74428"/>
                  <a:pt x="1384450" y="86076"/>
                  <a:pt x="1392865" y="95693"/>
                </a:cubicBezTo>
                <a:cubicBezTo>
                  <a:pt x="1409368" y="114554"/>
                  <a:pt x="1432126" y="128004"/>
                  <a:pt x="1446028" y="148856"/>
                </a:cubicBezTo>
                <a:cubicBezTo>
                  <a:pt x="1472854" y="189094"/>
                  <a:pt x="1458257" y="171717"/>
                  <a:pt x="1488559" y="202018"/>
                </a:cubicBezTo>
                <a:cubicBezTo>
                  <a:pt x="1537814" y="300528"/>
                  <a:pt x="1508674" y="264663"/>
                  <a:pt x="1562986" y="318977"/>
                </a:cubicBezTo>
                <a:cubicBezTo>
                  <a:pt x="1587924" y="393785"/>
                  <a:pt x="1555466" y="301429"/>
                  <a:pt x="1594884" y="393404"/>
                </a:cubicBezTo>
                <a:cubicBezTo>
                  <a:pt x="1599299" y="403706"/>
                  <a:pt x="1599300" y="415976"/>
                  <a:pt x="1605517" y="425302"/>
                </a:cubicBezTo>
                <a:cubicBezTo>
                  <a:pt x="1613858" y="437813"/>
                  <a:pt x="1627628" y="445783"/>
                  <a:pt x="1637414" y="457200"/>
                </a:cubicBezTo>
                <a:cubicBezTo>
                  <a:pt x="1732252" y="567845"/>
                  <a:pt x="1601255" y="424380"/>
                  <a:pt x="1701210" y="552893"/>
                </a:cubicBezTo>
                <a:cubicBezTo>
                  <a:pt x="1713519" y="568719"/>
                  <a:pt x="1730790" y="580118"/>
                  <a:pt x="1743740" y="595423"/>
                </a:cubicBezTo>
                <a:cubicBezTo>
                  <a:pt x="1769843" y="626271"/>
                  <a:pt x="1795753" y="657493"/>
                  <a:pt x="1818168" y="691116"/>
                </a:cubicBezTo>
                <a:cubicBezTo>
                  <a:pt x="1825256" y="701749"/>
                  <a:pt x="1831252" y="713197"/>
                  <a:pt x="1839433" y="723014"/>
                </a:cubicBezTo>
                <a:cubicBezTo>
                  <a:pt x="1849059" y="734565"/>
                  <a:pt x="1862099" y="743042"/>
                  <a:pt x="1871331" y="754911"/>
                </a:cubicBezTo>
                <a:cubicBezTo>
                  <a:pt x="1887022" y="775085"/>
                  <a:pt x="1895789" y="800635"/>
                  <a:pt x="1913861" y="818707"/>
                </a:cubicBezTo>
                <a:lnTo>
                  <a:pt x="1977656" y="882502"/>
                </a:lnTo>
                <a:cubicBezTo>
                  <a:pt x="1988289" y="893135"/>
                  <a:pt x="2001213" y="901889"/>
                  <a:pt x="2009554" y="914400"/>
                </a:cubicBezTo>
                <a:cubicBezTo>
                  <a:pt x="2017065" y="925667"/>
                  <a:pt x="2036935" y="959988"/>
                  <a:pt x="2052084" y="967563"/>
                </a:cubicBezTo>
                <a:cubicBezTo>
                  <a:pt x="2072133" y="977588"/>
                  <a:pt x="2094614" y="981740"/>
                  <a:pt x="2115879" y="988828"/>
                </a:cubicBezTo>
                <a:cubicBezTo>
                  <a:pt x="2126512" y="992372"/>
                  <a:pt x="2136904" y="996742"/>
                  <a:pt x="2147777" y="999460"/>
                </a:cubicBezTo>
                <a:cubicBezTo>
                  <a:pt x="2161954" y="1003004"/>
                  <a:pt x="2176624" y="1004962"/>
                  <a:pt x="2190307" y="1010093"/>
                </a:cubicBezTo>
                <a:cubicBezTo>
                  <a:pt x="2290920" y="1047823"/>
                  <a:pt x="2169503" y="1018691"/>
                  <a:pt x="2286000" y="1041990"/>
                </a:cubicBezTo>
                <a:cubicBezTo>
                  <a:pt x="2287487" y="1042585"/>
                  <a:pt x="2357512" y="1071803"/>
                  <a:pt x="2371061" y="1073888"/>
                </a:cubicBezTo>
                <a:cubicBezTo>
                  <a:pt x="2460807" y="1087695"/>
                  <a:pt x="2485038" y="1084521"/>
                  <a:pt x="2573079" y="1084521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2A30B929-0569-2FE5-FF9E-C291409E7D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3886" y="246517"/>
            <a:ext cx="3090235" cy="274575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E460D91-BBC5-88F7-750E-3D99AA2E0418}"/>
              </a:ext>
            </a:extLst>
          </p:cNvPr>
          <p:cNvSpPr txBox="1"/>
          <p:nvPr/>
        </p:nvSpPr>
        <p:spPr>
          <a:xfrm>
            <a:off x="616688" y="3947922"/>
            <a:ext cx="358888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>
                <a:latin typeface="Charter Roman" panose="02040503050506020203" pitchFamily="18" charset="0"/>
              </a:rPr>
              <a:t>sign-flip:</a:t>
            </a:r>
            <a:endParaRPr lang="en-US" dirty="0">
              <a:latin typeface="Charter Roman" panose="02040503050506020203" pitchFamily="18" charset="0"/>
            </a:endParaRPr>
          </a:p>
          <a:p>
            <a:r>
              <a:rPr lang="en-US" dirty="0">
                <a:latin typeface="Charter Roman" panose="02040503050506020203" pitchFamily="18" charset="0"/>
              </a:rPr>
              <a:t>If two samples come from the same distribution, their expected</a:t>
            </a:r>
            <a:r>
              <a:rPr lang="zh-CN" altLang="en-US" dirty="0">
                <a:latin typeface="Charter Roman" panose="02040503050506020203" pitchFamily="18" charset="0"/>
              </a:rPr>
              <a:t> </a:t>
            </a:r>
            <a:r>
              <a:rPr lang="en-US" dirty="0">
                <a:latin typeface="Charter Roman" panose="02040503050506020203" pitchFamily="18" charset="0"/>
              </a:rPr>
              <a:t>difference will not change after assigning label randomly</a:t>
            </a:r>
            <a:endParaRPr lang="en-CN" dirty="0">
              <a:latin typeface="Charter Roman" panose="02040503050506020203" pitchFamily="18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19B1BB47-D784-8E8D-7FC4-FE24B5F1BE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0476" y="3336801"/>
            <a:ext cx="3133645" cy="312295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8C8B6A08-2987-8748-7DCE-4583FBB648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1700" y="3810286"/>
            <a:ext cx="3670300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7635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52DE8A3-B3DC-3F4F-9E6D-920487FDFF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060" y="996976"/>
            <a:ext cx="8323548" cy="224735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F9208C7-EC37-57B2-B1D7-0BFAAA6D0FE6}"/>
              </a:ext>
            </a:extLst>
          </p:cNvPr>
          <p:cNvSpPr txBox="1"/>
          <p:nvPr/>
        </p:nvSpPr>
        <p:spPr>
          <a:xfrm>
            <a:off x="8679500" y="2334199"/>
            <a:ext cx="35125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000" dirty="0">
                <a:solidFill>
                  <a:schemeClr val="bg2">
                    <a:lumMod val="75000"/>
                  </a:schemeClr>
                </a:solidFill>
                <a:latin typeface="Charter Roman" panose="02040503050506020203" pitchFamily="18" charset="0"/>
              </a:rPr>
              <a:t>(Yau</a:t>
            </a:r>
            <a:r>
              <a:rPr lang="zh-CN" altLang="en-US" sz="2000" dirty="0">
                <a:solidFill>
                  <a:schemeClr val="bg2">
                    <a:lumMod val="75000"/>
                  </a:schemeClr>
                </a:solidFill>
                <a:latin typeface="Charter Roman" panose="02040503050506020203" pitchFamily="18" charset="0"/>
              </a:rPr>
              <a:t> </a:t>
            </a:r>
            <a:r>
              <a:rPr lang="en-US" altLang="zh-CN" sz="2000" dirty="0">
                <a:solidFill>
                  <a:schemeClr val="bg2">
                    <a:lumMod val="75000"/>
                  </a:schemeClr>
                </a:solidFill>
                <a:latin typeface="Charter Roman" panose="02040503050506020203" pitchFamily="18" charset="0"/>
              </a:rPr>
              <a:t>et</a:t>
            </a:r>
            <a:r>
              <a:rPr lang="zh-CN" altLang="en-US" sz="2000" dirty="0">
                <a:solidFill>
                  <a:schemeClr val="bg2">
                    <a:lumMod val="75000"/>
                  </a:schemeClr>
                </a:solidFill>
                <a:latin typeface="Charter Roman" panose="02040503050506020203" pitchFamily="18" charset="0"/>
              </a:rPr>
              <a:t> </a:t>
            </a:r>
            <a:r>
              <a:rPr lang="en-US" altLang="zh-CN" sz="2000" dirty="0">
                <a:solidFill>
                  <a:schemeClr val="bg2">
                    <a:lumMod val="75000"/>
                  </a:schemeClr>
                </a:solidFill>
                <a:latin typeface="Charter Roman" panose="02040503050506020203" pitchFamily="18" charset="0"/>
              </a:rPr>
              <a:t>al., 2021, </a:t>
            </a:r>
            <a:r>
              <a:rPr lang="en-CN" sz="2000" i="1" dirty="0">
                <a:solidFill>
                  <a:schemeClr val="bg2">
                    <a:lumMod val="75000"/>
                  </a:schemeClr>
                </a:solidFill>
                <a:latin typeface="CHARTER ROMAN" panose="02040503050506020203" pitchFamily="18" charset="0"/>
              </a:rPr>
              <a:t>J. Neurosci</a:t>
            </a:r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Charter Roman" panose="02040503050506020203" pitchFamily="18" charset="0"/>
              </a:rPr>
              <a:t>)</a:t>
            </a:r>
            <a:endParaRPr lang="en-CN" sz="2000" dirty="0">
              <a:solidFill>
                <a:schemeClr val="bg2">
                  <a:lumMod val="75000"/>
                </a:schemeClr>
              </a:solidFill>
              <a:latin typeface="Charter Roman" panose="02040503050506020203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CA90F7-50FF-7D54-704E-CE6D2407CDBC}"/>
              </a:ext>
            </a:extLst>
          </p:cNvPr>
          <p:cNvSpPr txBox="1"/>
          <p:nvPr/>
        </p:nvSpPr>
        <p:spPr>
          <a:xfrm>
            <a:off x="1264192" y="3429000"/>
            <a:ext cx="35317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harter Roman" panose="02040503050506020203" pitchFamily="18" charset="0"/>
              </a:rPr>
              <a:t>I</a:t>
            </a:r>
            <a:r>
              <a:rPr lang="en-CN" dirty="0">
                <a:latin typeface="Charter Roman" panose="02040503050506020203" pitchFamily="18" charset="0"/>
              </a:rPr>
              <a:t>nput: (30_subject, 50_windows)</a:t>
            </a:r>
            <a:endParaRPr lang="en-CN" dirty="0">
              <a:latin typeface="Charter Roman" panose="020405030505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449697-4CDC-3BC3-242A-59AB8BECA902}"/>
              </a:ext>
            </a:extLst>
          </p:cNvPr>
          <p:cNvSpPr txBox="1"/>
          <p:nvPr/>
        </p:nvSpPr>
        <p:spPr>
          <a:xfrm>
            <a:off x="1264192" y="3999123"/>
            <a:ext cx="1377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harter Roman" panose="02040503050506020203" pitchFamily="18" charset="0"/>
              </a:rPr>
              <a:t>R</a:t>
            </a:r>
            <a:r>
              <a:rPr lang="en-CN" dirty="0">
                <a:latin typeface="Charter Roman" panose="02040503050506020203" pitchFamily="18" charset="0"/>
              </a:rPr>
              <a:t>eal t value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719FB1-579C-F8EF-088D-E0EABCFF3384}"/>
              </a:ext>
            </a:extLst>
          </p:cNvPr>
          <p:cNvSpPr txBox="1"/>
          <p:nvPr/>
        </p:nvSpPr>
        <p:spPr>
          <a:xfrm>
            <a:off x="1264192" y="4523801"/>
            <a:ext cx="89947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harter Roman" panose="02040503050506020203" pitchFamily="18" charset="0"/>
              </a:rPr>
              <a:t>S</a:t>
            </a:r>
            <a:r>
              <a:rPr lang="en-CN" dirty="0">
                <a:latin typeface="Charter Roman" panose="02040503050506020203" pitchFamily="18" charset="0"/>
              </a:rPr>
              <a:t>ign flip * 5000: each filp can calculate a t value for 50 windows but only saving t_max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C24BCB-7B3F-C470-BB2C-E3F27738938F}"/>
              </a:ext>
            </a:extLst>
          </p:cNvPr>
          <p:cNvSpPr txBox="1"/>
          <p:nvPr/>
        </p:nvSpPr>
        <p:spPr>
          <a:xfrm>
            <a:off x="1264192" y="5048479"/>
            <a:ext cx="1624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harter Roman" panose="02040503050506020203" pitchFamily="18" charset="0"/>
              </a:rPr>
              <a:t>t_max</a:t>
            </a:r>
            <a:r>
              <a:rPr lang="en-US" dirty="0">
                <a:latin typeface="Charter Roman" panose="02040503050506020203" pitchFamily="18" charset="0"/>
              </a:rPr>
              <a:t>  * 5000</a:t>
            </a:r>
            <a:endParaRPr lang="en-CN" dirty="0">
              <a:latin typeface="Charter Roman" panose="02040503050506020203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5D22D2F-8060-54A1-519F-054F922969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192" y="5553655"/>
            <a:ext cx="4343400" cy="10922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728A4C2-8484-CA43-D87E-EF22DC263BD1}"/>
              </a:ext>
            </a:extLst>
          </p:cNvPr>
          <p:cNvSpPr txBox="1"/>
          <p:nvPr/>
        </p:nvSpPr>
        <p:spPr>
          <a:xfrm>
            <a:off x="143220" y="212145"/>
            <a:ext cx="40698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Mass</a:t>
            </a:r>
            <a:r>
              <a:rPr lang="en-US" altLang="zh-CN" dirty="0"/>
              <a:t>-univariate</a:t>
            </a:r>
            <a:r>
              <a:rPr lang="zh-CN" altLang="en-US" dirty="0"/>
              <a:t> </a:t>
            </a:r>
            <a:r>
              <a:rPr lang="en-US" altLang="zh-CN" sz="2000" dirty="0">
                <a:latin typeface="Charter Roman" panose="02040503050506020203" pitchFamily="18" charset="0"/>
              </a:rPr>
              <a:t>permutation</a:t>
            </a:r>
            <a:r>
              <a:rPr lang="zh-CN" altLang="en-US" dirty="0"/>
              <a:t> </a:t>
            </a:r>
            <a:r>
              <a:rPr lang="en-US" altLang="zh-CN" dirty="0"/>
              <a:t>analysis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0688912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FE8F6C9-57B5-6D4D-F33D-72AC1D78F602}"/>
              </a:ext>
            </a:extLst>
          </p:cNvPr>
          <p:cNvSpPr txBox="1"/>
          <p:nvPr/>
        </p:nvSpPr>
        <p:spPr>
          <a:xfrm>
            <a:off x="407624" y="407624"/>
            <a:ext cx="40222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400" dirty="0">
                <a:latin typeface="Charter Roman" panose="02040503050506020203" pitchFamily="18" charset="0"/>
              </a:rPr>
              <a:t>Cluster</a:t>
            </a:r>
            <a:r>
              <a:rPr lang="zh-CN" altLang="en-US" sz="2400" dirty="0">
                <a:latin typeface="Charter Roman" panose="02040503050506020203" pitchFamily="18" charset="0"/>
              </a:rPr>
              <a:t> </a:t>
            </a:r>
            <a:r>
              <a:rPr lang="en-US" altLang="zh-CN" sz="2400" dirty="0">
                <a:latin typeface="Charter Roman" panose="02040503050506020203" pitchFamily="18" charset="0"/>
              </a:rPr>
              <a:t>permutation</a:t>
            </a:r>
            <a:r>
              <a:rPr lang="zh-CN" altLang="en-US" sz="2400" dirty="0">
                <a:latin typeface="Charter Roman" panose="02040503050506020203" pitchFamily="18" charset="0"/>
              </a:rPr>
              <a:t> </a:t>
            </a:r>
            <a:r>
              <a:rPr lang="en-US" altLang="zh-CN" sz="2400" dirty="0">
                <a:latin typeface="Charter Roman" panose="02040503050506020203" pitchFamily="18" charset="0"/>
              </a:rPr>
              <a:t>analysis</a:t>
            </a:r>
            <a:endParaRPr lang="en-CN" sz="2400" dirty="0">
              <a:latin typeface="Charter Roman" panose="020405030505060202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7EDA54-DC25-667E-ECDC-948CEDF61BF2}"/>
              </a:ext>
            </a:extLst>
          </p:cNvPr>
          <p:cNvSpPr txBox="1"/>
          <p:nvPr/>
        </p:nvSpPr>
        <p:spPr>
          <a:xfrm>
            <a:off x="1222872" y="1112704"/>
            <a:ext cx="3663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harter Roman" panose="02040503050506020203" pitchFamily="18" charset="0"/>
              </a:rPr>
              <a:t>A</a:t>
            </a:r>
            <a:r>
              <a:rPr lang="en-CN" dirty="0">
                <a:latin typeface="Charter Roman" panose="02040503050506020203" pitchFamily="18" charset="0"/>
              </a:rPr>
              <a:t>dd</a:t>
            </a:r>
            <a:r>
              <a:rPr lang="zh-CN" altLang="en-US" dirty="0">
                <a:latin typeface="Charter Roman" panose="02040503050506020203" pitchFamily="18" charset="0"/>
              </a:rPr>
              <a:t> </a:t>
            </a:r>
            <a:r>
              <a:rPr lang="en-US" altLang="zh-CN" dirty="0">
                <a:latin typeface="Charter Roman" panose="02040503050506020203" pitchFamily="18" charset="0"/>
              </a:rPr>
              <a:t>information</a:t>
            </a:r>
            <a:r>
              <a:rPr lang="zh-CN" altLang="en-US" dirty="0">
                <a:latin typeface="Charter Roman" panose="02040503050506020203" pitchFamily="18" charset="0"/>
              </a:rPr>
              <a:t> </a:t>
            </a:r>
            <a:r>
              <a:rPr lang="en-US" altLang="zh-CN" dirty="0">
                <a:latin typeface="Charter Roman" panose="02040503050506020203" pitchFamily="18" charset="0"/>
              </a:rPr>
              <a:t>about</a:t>
            </a:r>
            <a:r>
              <a:rPr lang="zh-CN" altLang="en-US" dirty="0">
                <a:latin typeface="Charter Roman" panose="02040503050506020203" pitchFamily="18" charset="0"/>
              </a:rPr>
              <a:t> </a:t>
            </a:r>
            <a:r>
              <a:rPr lang="en-US" altLang="zh-CN" dirty="0">
                <a:latin typeface="Charter Roman" panose="02040503050506020203" pitchFamily="18" charset="0"/>
              </a:rPr>
              <a:t>time/space</a:t>
            </a:r>
            <a:endParaRPr lang="en-CN" dirty="0">
              <a:latin typeface="Charter Roman" panose="020405030505060202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F49CA3-8946-346A-FE7D-315385DAECA1}"/>
              </a:ext>
            </a:extLst>
          </p:cNvPr>
          <p:cNvSpPr txBox="1"/>
          <p:nvPr/>
        </p:nvSpPr>
        <p:spPr>
          <a:xfrm>
            <a:off x="922568" y="2030745"/>
            <a:ext cx="48237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harter Roman" panose="02040503050506020203" pitchFamily="18" charset="0"/>
              </a:rPr>
              <a:t>I</a:t>
            </a:r>
            <a:r>
              <a:rPr lang="en-CN" dirty="0">
                <a:latin typeface="Charter Roman" panose="02040503050506020203" pitchFamily="18" charset="0"/>
              </a:rPr>
              <a:t>nput: (30_subject, 50_windows, </a:t>
            </a:r>
            <a:r>
              <a:rPr lang="en-CN" dirty="0">
                <a:solidFill>
                  <a:srgbClr val="FF0000"/>
                </a:solidFill>
                <a:latin typeface="Charter Roman" panose="02040503050506020203" pitchFamily="18" charset="0"/>
              </a:rPr>
              <a:t>60_channel</a:t>
            </a:r>
            <a:r>
              <a:rPr lang="en-CN" dirty="0">
                <a:latin typeface="Charter Roman" panose="02040503050506020203" pitchFamily="18" charset="0"/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CCBED4-593F-04EC-DE20-3DC6C0065DD4}"/>
              </a:ext>
            </a:extLst>
          </p:cNvPr>
          <p:cNvSpPr txBox="1"/>
          <p:nvPr/>
        </p:nvSpPr>
        <p:spPr>
          <a:xfrm>
            <a:off x="922568" y="2600868"/>
            <a:ext cx="1377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harter Roman" panose="02040503050506020203" pitchFamily="18" charset="0"/>
              </a:rPr>
              <a:t>R</a:t>
            </a:r>
            <a:r>
              <a:rPr lang="en-CN" dirty="0">
                <a:latin typeface="Charter Roman" panose="02040503050506020203" pitchFamily="18" charset="0"/>
              </a:rPr>
              <a:t>eal t value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60A01E-1BF9-1CA8-36A3-B93334859195}"/>
              </a:ext>
            </a:extLst>
          </p:cNvPr>
          <p:cNvSpPr txBox="1"/>
          <p:nvPr/>
        </p:nvSpPr>
        <p:spPr>
          <a:xfrm>
            <a:off x="922568" y="4374942"/>
            <a:ext cx="11269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harter Roman" panose="02040503050506020203" pitchFamily="18" charset="0"/>
              </a:rPr>
              <a:t>S</a:t>
            </a:r>
            <a:r>
              <a:rPr lang="en-CN" dirty="0">
                <a:latin typeface="Charter Roman" panose="02040503050506020203" pitchFamily="18" charset="0"/>
              </a:rPr>
              <a:t>ign flip * 5000: each filp can calculate a </a:t>
            </a:r>
            <a:r>
              <a:rPr lang="en-US" dirty="0">
                <a:latin typeface="Charter Roman" panose="02040503050506020203" pitchFamily="18" charset="0"/>
              </a:rPr>
              <a:t>(</a:t>
            </a:r>
            <a:r>
              <a:rPr lang="en-US" dirty="0">
                <a:solidFill>
                  <a:srgbClr val="FF0000"/>
                </a:solidFill>
                <a:latin typeface="Charter Roman" panose="02040503050506020203" pitchFamily="18" charset="0"/>
              </a:rPr>
              <a:t>cluster</a:t>
            </a:r>
            <a:r>
              <a:rPr lang="en-US" dirty="0">
                <a:latin typeface="Charter Roman" panose="02040503050506020203" pitchFamily="18" charset="0"/>
              </a:rPr>
              <a:t>) </a:t>
            </a:r>
            <a:r>
              <a:rPr lang="en-CN" dirty="0">
                <a:latin typeface="Charter Roman" panose="02040503050506020203" pitchFamily="18" charset="0"/>
              </a:rPr>
              <a:t>t value for 50 windows </a:t>
            </a:r>
            <a:r>
              <a:rPr lang="en-CN" dirty="0">
                <a:solidFill>
                  <a:srgbClr val="FF0000"/>
                </a:solidFill>
                <a:latin typeface="Charter Roman" panose="02040503050506020203" pitchFamily="18" charset="0"/>
              </a:rPr>
              <a:t>* 60 hannels </a:t>
            </a:r>
            <a:r>
              <a:rPr lang="en-CN" dirty="0">
                <a:latin typeface="Charter Roman" panose="02040503050506020203" pitchFamily="18" charset="0"/>
              </a:rPr>
              <a:t>but only saving t_max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CCF572-645C-827C-92F0-74251EBFCF88}"/>
              </a:ext>
            </a:extLst>
          </p:cNvPr>
          <p:cNvSpPr txBox="1"/>
          <p:nvPr/>
        </p:nvSpPr>
        <p:spPr>
          <a:xfrm>
            <a:off x="922568" y="4920612"/>
            <a:ext cx="1624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harter Roman" panose="02040503050506020203" pitchFamily="18" charset="0"/>
              </a:rPr>
              <a:t>t_max</a:t>
            </a:r>
            <a:r>
              <a:rPr lang="en-US" dirty="0">
                <a:latin typeface="Charter Roman" panose="02040503050506020203" pitchFamily="18" charset="0"/>
              </a:rPr>
              <a:t>  * 5000</a:t>
            </a:r>
            <a:endParaRPr lang="en-CN" dirty="0">
              <a:latin typeface="Charter Roman" panose="02040503050506020203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14336F9-C441-36A8-DEF5-B4596BDAB0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568" y="5503819"/>
            <a:ext cx="4343400" cy="10922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FE23D50-250E-E01F-528B-410B7A6DEA86}"/>
              </a:ext>
            </a:extLst>
          </p:cNvPr>
          <p:cNvSpPr txBox="1"/>
          <p:nvPr/>
        </p:nvSpPr>
        <p:spPr>
          <a:xfrm>
            <a:off x="922568" y="3184075"/>
            <a:ext cx="1906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>
                <a:solidFill>
                  <a:srgbClr val="FF0000"/>
                </a:solidFill>
                <a:latin typeface="Charter Roman" panose="02040503050506020203" pitchFamily="18" charset="0"/>
              </a:rPr>
              <a:t>Set a t</a:t>
            </a:r>
            <a:r>
              <a:rPr lang="zh-CN" altLang="en-US" dirty="0">
                <a:solidFill>
                  <a:srgbClr val="FF0000"/>
                </a:solidFill>
                <a:latin typeface="Charter Roman" panose="02040503050506020203" pitchFamily="18" charset="0"/>
              </a:rPr>
              <a:t> </a:t>
            </a:r>
            <a:r>
              <a:rPr lang="en-CN" dirty="0">
                <a:solidFill>
                  <a:srgbClr val="FF0000"/>
                </a:solidFill>
                <a:latin typeface="Charter Roman" panose="02040503050506020203" pitchFamily="18" charset="0"/>
              </a:rPr>
              <a:t>threshold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C56EF5-CA03-2B19-F421-32ECF223C7C1}"/>
              </a:ext>
            </a:extLst>
          </p:cNvPr>
          <p:cNvSpPr txBox="1"/>
          <p:nvPr/>
        </p:nvSpPr>
        <p:spPr>
          <a:xfrm>
            <a:off x="922568" y="3767282"/>
            <a:ext cx="5793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harter Roman" panose="02040503050506020203" pitchFamily="18" charset="0"/>
              </a:rPr>
              <a:t>C</a:t>
            </a:r>
            <a:r>
              <a:rPr lang="en-CN" dirty="0">
                <a:solidFill>
                  <a:srgbClr val="FF0000"/>
                </a:solidFill>
                <a:latin typeface="Charter Roman" panose="02040503050506020203" pitchFamily="18" charset="0"/>
              </a:rPr>
              <a:t>luster the windows*channel which over the</a:t>
            </a:r>
            <a:r>
              <a:rPr lang="zh-CN" altLang="en-US" dirty="0">
                <a:solidFill>
                  <a:srgbClr val="FF0000"/>
                </a:solidFill>
                <a:latin typeface="Charter Roman" panose="02040503050506020203" pitchFamily="18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Charter Roman" panose="02040503050506020203" pitchFamily="18" charset="0"/>
              </a:rPr>
              <a:t>threshold</a:t>
            </a:r>
            <a:r>
              <a:rPr lang="en-CN" dirty="0">
                <a:solidFill>
                  <a:srgbClr val="FF0000"/>
                </a:solidFill>
                <a:latin typeface="Charter Roman" panose="020405030505060202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409186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49787A9-B994-23E9-B75D-BAC35BA462AD}"/>
              </a:ext>
            </a:extLst>
          </p:cNvPr>
          <p:cNvSpPr txBox="1"/>
          <p:nvPr/>
        </p:nvSpPr>
        <p:spPr>
          <a:xfrm>
            <a:off x="508252" y="370751"/>
            <a:ext cx="20473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3200" dirty="0">
                <a:latin typeface="Charter Roman" panose="02040503050506020203" pitchFamily="18" charset="0"/>
              </a:rPr>
              <a:t>MNE-MC</a:t>
            </a:r>
            <a:r>
              <a:rPr lang="en-CN" sz="3200" dirty="0">
                <a:latin typeface="Charter Roman" panose="02040503050506020203" pitchFamily="18" charset="0"/>
              </a:rPr>
              <a:t>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008FB5-7DA4-2E03-3EAE-AC866A5CFF1A}"/>
              </a:ext>
            </a:extLst>
          </p:cNvPr>
          <p:cNvSpPr txBox="1"/>
          <p:nvPr/>
        </p:nvSpPr>
        <p:spPr>
          <a:xfrm>
            <a:off x="508252" y="6117917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dirty="0">
                <a:latin typeface="Charter Roman" panose="02040503050506020203" pitchFamily="18" charset="0"/>
              </a:rPr>
              <a:t>https://www.chinaxiv.org/abs/202606.00065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3B15585-73F6-019E-D05A-5AB75B67D3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252" y="1529323"/>
            <a:ext cx="7532489" cy="379935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7B60C3C-86E6-1632-1836-D05BA5CDF357}"/>
              </a:ext>
            </a:extLst>
          </p:cNvPr>
          <p:cNvSpPr txBox="1"/>
          <p:nvPr/>
        </p:nvSpPr>
        <p:spPr>
          <a:xfrm>
            <a:off x="8040741" y="1859339"/>
            <a:ext cx="400120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CN" dirty="0">
                <a:latin typeface="Charter Roman" panose="02040503050506020203" pitchFamily="18" charset="0"/>
              </a:rPr>
              <a:t>Download python 3.12</a:t>
            </a:r>
          </a:p>
          <a:p>
            <a:pPr marL="342900" indent="-342900">
              <a:buAutoNum type="arabicPeriod"/>
            </a:pPr>
            <a:endParaRPr lang="en-CN" dirty="0">
              <a:latin typeface="Charter Roman" panose="02040503050506020203" pitchFamily="18" charset="0"/>
            </a:endParaRPr>
          </a:p>
          <a:p>
            <a:pPr marL="342900" indent="-342900">
              <a:buFontTx/>
              <a:buAutoNum type="arabicPeriod"/>
            </a:pPr>
            <a:r>
              <a:rPr lang="en-CN" dirty="0">
                <a:latin typeface="Charter Roman" panose="02040503050506020203" pitchFamily="18" charset="0"/>
              </a:rPr>
              <a:t>brew install python@3.12 </a:t>
            </a:r>
          </a:p>
          <a:p>
            <a:pPr marL="342900" indent="-342900">
              <a:buAutoNum type="arabicPeriod"/>
            </a:pPr>
            <a:endParaRPr lang="en-CN" dirty="0">
              <a:latin typeface="Charter Roman" panose="02040503050506020203" pitchFamily="18" charset="0"/>
            </a:endParaRPr>
          </a:p>
          <a:p>
            <a:pPr marL="342900" indent="-342900">
              <a:buFontTx/>
              <a:buAutoNum type="arabicPeriod"/>
            </a:pPr>
            <a:r>
              <a:rPr lang="en-CN" dirty="0">
                <a:latin typeface="Charter Roman" panose="02040503050506020203" pitchFamily="18" charset="0"/>
              </a:rPr>
              <a:t>pipx install "mne-mcp[full]" </a:t>
            </a:r>
            <a:r>
              <a:rPr lang="en-CN" dirty="0">
                <a:latin typeface="Charter Roman" panose="02040503050506020203" pitchFamily="18" charset="0"/>
              </a:rPr>
              <a:t>-- </a:t>
            </a:r>
            <a:r>
              <a:rPr lang="en-US" altLang="zh-CN" dirty="0">
                <a:solidFill>
                  <a:srgbClr val="FF0000"/>
                </a:solidFill>
                <a:latin typeface="Charter Roman" panose="02040503050506020203" pitchFamily="18" charset="0"/>
              </a:rPr>
              <a:t>/n</a:t>
            </a:r>
            <a:r>
              <a:rPr lang="en-CN" dirty="0">
                <a:solidFill>
                  <a:srgbClr val="FF0000"/>
                </a:solidFill>
                <a:latin typeface="Charter Roman" panose="02040503050506020203" pitchFamily="18" charset="0"/>
              </a:rPr>
              <a:t> </a:t>
            </a:r>
            <a:r>
              <a:rPr lang="en-CN" dirty="0">
                <a:latin typeface="Charter Roman" panose="02040503050506020203" pitchFamily="18" charset="0"/>
              </a:rPr>
              <a:t>python/opt/homebrew/opt/python@3.12/bin/python3.12</a:t>
            </a:r>
          </a:p>
          <a:p>
            <a:pPr marL="342900" indent="-342900">
              <a:buFontTx/>
              <a:buAutoNum type="arabicPeriod"/>
            </a:pPr>
            <a:endParaRPr lang="en-CN" dirty="0">
              <a:latin typeface="Charter Roman" panose="02040503050506020203" pitchFamily="18" charset="0"/>
            </a:endParaRPr>
          </a:p>
          <a:p>
            <a:pPr marL="342900" indent="-342900">
              <a:buFontTx/>
              <a:buAutoNum type="arabicPeriod"/>
            </a:pPr>
            <a:r>
              <a:rPr lang="en-CN" dirty="0">
                <a:latin typeface="Charter Roman" panose="02040503050506020203" pitchFamily="18" charset="0"/>
              </a:rPr>
              <a:t>mne-mcp setup </a:t>
            </a:r>
          </a:p>
          <a:p>
            <a:pPr marL="342900" indent="-342900">
              <a:buFontTx/>
              <a:buAutoNum type="arabicPeriod"/>
            </a:pPr>
            <a:endParaRPr lang="en-CN" dirty="0">
              <a:latin typeface="Charter Roman" panose="02040503050506020203" pitchFamily="18" charset="0"/>
            </a:endParaRPr>
          </a:p>
          <a:p>
            <a:pPr marL="342900" indent="-342900">
              <a:buAutoNum type="arabicPeriod"/>
            </a:pPr>
            <a:endParaRPr lang="en-CN" dirty="0">
              <a:latin typeface="Charter Roman" panose="02040503050506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71258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3FE4BDF-8FB7-3107-C80A-F6E67A369112}"/>
              </a:ext>
            </a:extLst>
          </p:cNvPr>
          <p:cNvSpPr txBox="1"/>
          <p:nvPr/>
        </p:nvSpPr>
        <p:spPr>
          <a:xfrm>
            <a:off x="1746892" y="2890391"/>
            <a:ext cx="869821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N" sz="3200" dirty="0">
                <a:latin typeface="Charter Roman" panose="02040503050506020203" pitchFamily="18" charset="0"/>
              </a:rPr>
              <a:t>Thank you!</a:t>
            </a:r>
          </a:p>
          <a:p>
            <a:pPr algn="ctr"/>
            <a:r>
              <a:rPr lang="en-CN" sz="3200" dirty="0">
                <a:latin typeface="Charter Roman" panose="02040503050506020203" pitchFamily="18" charset="0"/>
              </a:rPr>
              <a:t>If I have something wrong, please let me know!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E19F8C-11A0-BF99-B758-41E7F3BB4A38}"/>
              </a:ext>
            </a:extLst>
          </p:cNvPr>
          <p:cNvSpPr txBox="1"/>
          <p:nvPr/>
        </p:nvSpPr>
        <p:spPr>
          <a:xfrm>
            <a:off x="4420702" y="5454502"/>
            <a:ext cx="335059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harter Roman" panose="02040503050506020203" pitchFamily="18" charset="0"/>
              </a:rPr>
              <a:t>P</a:t>
            </a:r>
            <a:r>
              <a:rPr lang="en-CN" dirty="0">
                <a:latin typeface="Charter Roman" panose="02040503050506020203" pitchFamily="18" charset="0"/>
              </a:rPr>
              <a:t>resenter: hyijie</a:t>
            </a:r>
          </a:p>
          <a:p>
            <a:pPr algn="ctr"/>
            <a:r>
              <a:rPr lang="en-US" dirty="0">
                <a:latin typeface="Charter Roman" panose="02040503050506020203" pitchFamily="18" charset="0"/>
              </a:rPr>
              <a:t>6/13/26</a:t>
            </a:r>
          </a:p>
          <a:p>
            <a:pPr algn="ctr"/>
            <a:endParaRPr lang="en-US" dirty="0">
              <a:latin typeface="Charter Roman" panose="02040503050506020203" pitchFamily="18" charset="0"/>
            </a:endParaRPr>
          </a:p>
          <a:p>
            <a:pPr algn="ctr"/>
            <a:r>
              <a:rPr lang="en-US" dirty="0">
                <a:latin typeface="Charter Roman" panose="02040503050506020203" pitchFamily="18" charset="0"/>
              </a:rPr>
              <a:t>Email: </a:t>
            </a:r>
            <a:r>
              <a:rPr lang="en-US" dirty="0" err="1">
                <a:latin typeface="Charter Roman" panose="02040503050506020203" pitchFamily="18" charset="0"/>
              </a:rPr>
              <a:t>hyijie_psy@foxmail.com</a:t>
            </a:r>
            <a:endParaRPr lang="en-CN" dirty="0">
              <a:latin typeface="Charter Roman" panose="02040503050506020203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F1B344-89D5-E58C-A425-7E198FD0C1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016052" cy="2016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7427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1010</TotalTime>
  <Words>358</Words>
  <Application>Microsoft Macintosh PowerPoint</Application>
  <PresentationFormat>Widescreen</PresentationFormat>
  <Paragraphs>58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CHARTER ROMAN</vt:lpstr>
      <vt:lpstr>CHARTER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Huang Yijie</dc:creator>
  <cp:lastModifiedBy>Huang Yijie</cp:lastModifiedBy>
  <cp:revision>24</cp:revision>
  <dcterms:created xsi:type="dcterms:W3CDTF">2026-06-12T12:31:16Z</dcterms:created>
  <dcterms:modified xsi:type="dcterms:W3CDTF">2026-06-13T05:22:06Z</dcterms:modified>
</cp:coreProperties>
</file>